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293697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37" y="3583209"/>
            <a:ext cx="390524" cy="285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45697"/>
            <a:ext cx="9143999" cy="95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797" y="496068"/>
            <a:ext cx="6418303" cy="474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56570" y="1362576"/>
            <a:ext cx="4151629" cy="317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0654" y="2448848"/>
            <a:ext cx="66465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Blockchain-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23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Decentralized</a:t>
            </a:r>
            <a:r>
              <a:rPr dirty="0" sz="23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Voting</a:t>
            </a:r>
            <a:r>
              <a:rPr dirty="0" sz="23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5727" y="3903455"/>
            <a:ext cx="185801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140">
                <a:solidFill>
                  <a:srgbClr val="B6B6B6"/>
                </a:solidFill>
                <a:latin typeface="Verdana"/>
                <a:cs typeface="Verdana"/>
              </a:rPr>
              <a:t>Rahul</a:t>
            </a:r>
            <a:r>
              <a:rPr dirty="0" sz="2400" spc="-229">
                <a:solidFill>
                  <a:srgbClr val="B6B6B6"/>
                </a:solidFill>
                <a:latin typeface="Verdana"/>
                <a:cs typeface="Verdana"/>
              </a:rPr>
              <a:t> </a:t>
            </a:r>
            <a:r>
              <a:rPr dirty="0" sz="2400" spc="-150">
                <a:solidFill>
                  <a:srgbClr val="B6B6B6"/>
                </a:solidFill>
                <a:latin typeface="Verdana"/>
                <a:cs typeface="Verdana"/>
              </a:rPr>
              <a:t>Dudani </a:t>
            </a:r>
            <a:r>
              <a:rPr dirty="0" sz="2400" spc="-165">
                <a:solidFill>
                  <a:srgbClr val="B6B6B6"/>
                </a:solidFill>
                <a:latin typeface="Verdana"/>
                <a:cs typeface="Verdana"/>
              </a:rPr>
              <a:t>D17C</a:t>
            </a:r>
            <a:r>
              <a:rPr dirty="0" sz="2400" spc="-250">
                <a:solidFill>
                  <a:srgbClr val="B6B6B6"/>
                </a:solidFill>
                <a:latin typeface="Verdana"/>
                <a:cs typeface="Verdana"/>
              </a:rPr>
              <a:t> </a:t>
            </a:r>
            <a:r>
              <a:rPr dirty="0" sz="2400" spc="-140">
                <a:solidFill>
                  <a:srgbClr val="B6B6B6"/>
                </a:solidFill>
                <a:latin typeface="Verdana"/>
                <a:cs typeface="Verdana"/>
              </a:rPr>
              <a:t>-</a:t>
            </a:r>
            <a:r>
              <a:rPr dirty="0" sz="2400" spc="-245">
                <a:solidFill>
                  <a:srgbClr val="B6B6B6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B6B6B6"/>
                </a:solidFill>
                <a:latin typeface="Verdana"/>
                <a:cs typeface="Verdana"/>
              </a:rPr>
              <a:t>18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76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6" y="1252801"/>
            <a:ext cx="8283575" cy="276034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79095" marR="5080" indent="-367030">
              <a:lnSpc>
                <a:spcPts val="2030"/>
              </a:lnSpc>
              <a:spcBef>
                <a:spcPts val="27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 baseline="1543" sz="2700">
                <a:latin typeface="Times New Roman"/>
                <a:cs typeface="Times New Roman"/>
              </a:rPr>
              <a:t>Traditional</a:t>
            </a:r>
            <a:r>
              <a:rPr dirty="0" baseline="1543" sz="2700" spc="-30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voting</a:t>
            </a:r>
            <a:r>
              <a:rPr dirty="0" baseline="1543" sz="2700" spc="-2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systems</a:t>
            </a:r>
            <a:r>
              <a:rPr dirty="0" baseline="1543" sz="2700" spc="-30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rely</a:t>
            </a:r>
            <a:r>
              <a:rPr dirty="0" baseline="1543" sz="2700" spc="-2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on</a:t>
            </a:r>
            <a:r>
              <a:rPr dirty="0" baseline="1543" sz="2700" spc="-2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centralized</a:t>
            </a:r>
            <a:r>
              <a:rPr dirty="0" baseline="1543" sz="2700" spc="-30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databases,</a:t>
            </a:r>
            <a:r>
              <a:rPr dirty="0" baseline="1543" sz="2700" spc="-2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which</a:t>
            </a:r>
            <a:r>
              <a:rPr dirty="0" baseline="1543" sz="2700" spc="-30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create</a:t>
            </a:r>
            <a:r>
              <a:rPr dirty="0" baseline="1543" sz="2700" spc="-2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single</a:t>
            </a:r>
            <a:r>
              <a:rPr dirty="0" baseline="1543" sz="2700" spc="-2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points</a:t>
            </a:r>
            <a:r>
              <a:rPr dirty="0" baseline="1543" sz="2700" spc="-30">
                <a:latin typeface="Times New Roman"/>
                <a:cs typeface="Times New Roman"/>
              </a:rPr>
              <a:t> </a:t>
            </a:r>
            <a:r>
              <a:rPr dirty="0" baseline="1543" sz="2700" spc="-37">
                <a:latin typeface="Times New Roman"/>
                <a:cs typeface="Times New Roman"/>
              </a:rPr>
              <a:t>of </a:t>
            </a:r>
            <a:r>
              <a:rPr dirty="0" sz="1800" spc="-10">
                <a:latin typeface="Times New Roman"/>
                <a:cs typeface="Times New Roman"/>
              </a:rPr>
              <a:t>failure.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Microsoft Sans Serif"/>
              <a:buChar char="●"/>
            </a:pP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dirty="0" baseline="1543" sz="2700">
                <a:latin typeface="Times New Roman"/>
                <a:cs typeface="Times New Roman"/>
              </a:rPr>
              <a:t>Data</a:t>
            </a:r>
            <a:r>
              <a:rPr dirty="0" baseline="1543" sz="2700" spc="-89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tampering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and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unauthorized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access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can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compromise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Times New Roman"/>
                <a:cs typeface="Times New Roman"/>
              </a:rPr>
              <a:t>election</a:t>
            </a:r>
            <a:r>
              <a:rPr dirty="0" baseline="1543" sz="2700" spc="-82">
                <a:latin typeface="Times New Roman"/>
                <a:cs typeface="Times New Roman"/>
              </a:rPr>
              <a:t> </a:t>
            </a:r>
            <a:r>
              <a:rPr dirty="0" baseline="1543" sz="2700" spc="-15">
                <a:latin typeface="Times New Roman"/>
                <a:cs typeface="Times New Roman"/>
              </a:rPr>
              <a:t>integrity.</a:t>
            </a:r>
            <a:endParaRPr baseline="1543"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Microsoft Sans Serif"/>
              <a:buChar char="●"/>
            </a:pP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  <a:tab pos="1148080" algn="l"/>
                <a:tab pos="1651000" algn="l"/>
                <a:tab pos="3130550" algn="l"/>
                <a:tab pos="4140835" algn="l"/>
                <a:tab pos="5024120" algn="l"/>
                <a:tab pos="5742940" algn="l"/>
                <a:tab pos="6233160" algn="l"/>
                <a:tab pos="7331709" algn="l"/>
              </a:tabLst>
            </a:pPr>
            <a:r>
              <a:rPr dirty="0" sz="1800" spc="-20">
                <a:latin typeface="Times New Roman"/>
                <a:cs typeface="Times New Roman"/>
              </a:rPr>
              <a:t>Lack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of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transparency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reduces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public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trust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in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electoral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outcomes.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Microsoft Sans Serif"/>
              <a:buChar char="●"/>
            </a:pP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 sz="1800">
                <a:latin typeface="Times New Roman"/>
                <a:cs typeface="Times New Roman"/>
              </a:rPr>
              <a:t>Manual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verification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dependency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intermediaries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slow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down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Microsoft Sans Serif"/>
              <a:buChar char="●"/>
            </a:pP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voter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anonymity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security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challenging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existing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76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Significance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Blockchain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Voting</a:t>
            </a:r>
            <a:r>
              <a:rPr dirty="0" spc="-20"/>
              <a:t> </a:t>
            </a:r>
            <a:r>
              <a:rPr dirty="0" spc="-10"/>
              <a:t>Domain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1" y="1221793"/>
            <a:ext cx="8216900" cy="312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748665" indent="-351790">
              <a:lnSpc>
                <a:spcPct val="112100"/>
              </a:lnSpc>
              <a:spcBef>
                <a:spcPts val="1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dirty="0" sz="1600">
                <a:latin typeface="Times New Roman"/>
                <a:cs typeface="Times New Roman"/>
              </a:rPr>
              <a:t>Blockchain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technology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revolutionizes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process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introducing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transparency, decentralization,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 </a:t>
            </a:r>
            <a:r>
              <a:rPr dirty="0" sz="1600" spc="-10">
                <a:latin typeface="Times New Roman"/>
                <a:cs typeface="Times New Roman"/>
              </a:rPr>
              <a:t>immutability.</a:t>
            </a:r>
            <a:endParaRPr sz="1600">
              <a:latin typeface="Times New Roman"/>
              <a:cs typeface="Times New Roman"/>
            </a:endParaRPr>
          </a:p>
          <a:p>
            <a:pPr marL="469900" marR="5080" indent="-351790">
              <a:lnSpc>
                <a:spcPct val="108600"/>
              </a:lnSpc>
              <a:spcBef>
                <a:spcPts val="175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dirty="0" baseline="3472" sz="2400">
                <a:latin typeface="Times New Roman"/>
                <a:cs typeface="Times New Roman"/>
              </a:rPr>
              <a:t>Each</a:t>
            </a:r>
            <a:r>
              <a:rPr dirty="0" baseline="3472" sz="2400" spc="-82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vote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is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treated</a:t>
            </a:r>
            <a:r>
              <a:rPr dirty="0" baseline="3472" sz="2400" spc="-82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as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a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transaction,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validated</a:t>
            </a:r>
            <a:r>
              <a:rPr dirty="0" baseline="3472" sz="2400" spc="-82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through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consensus,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and</a:t>
            </a:r>
            <a:r>
              <a:rPr dirty="0" baseline="3472" sz="2400" spc="-82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permanently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>
                <a:latin typeface="Times New Roman"/>
                <a:cs typeface="Times New Roman"/>
              </a:rPr>
              <a:t>recorded</a:t>
            </a:r>
            <a:r>
              <a:rPr dirty="0" baseline="3472" sz="2400" spc="-75">
                <a:latin typeface="Times New Roman"/>
                <a:cs typeface="Times New Roman"/>
              </a:rPr>
              <a:t> </a:t>
            </a:r>
            <a:r>
              <a:rPr dirty="0" baseline="3472" sz="2400" spc="-37">
                <a:latin typeface="Times New Roman"/>
                <a:cs typeface="Times New Roman"/>
              </a:rPr>
              <a:t>in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blockchain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ledger.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600" b="1">
                <a:latin typeface="Times New Roman"/>
                <a:cs typeface="Times New Roman"/>
              </a:rPr>
              <a:t>Key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Advantages: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149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imes New Roman"/>
                <a:cs typeface="Times New Roman"/>
              </a:rPr>
              <a:t>Transparency:</a:t>
            </a:r>
            <a:r>
              <a:rPr dirty="0" sz="1600" spc="19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publicly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verifiable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blockchain.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8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imes New Roman"/>
                <a:cs typeface="Times New Roman"/>
              </a:rPr>
              <a:t>Security:</a:t>
            </a:r>
            <a:r>
              <a:rPr dirty="0" sz="1600" spc="114" b="1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Cryptographic</a:t>
            </a:r>
            <a:r>
              <a:rPr dirty="0" baseline="1736" sz="2400" spc="-75">
                <a:latin typeface="Times New Roman"/>
                <a:cs typeface="Times New Roman"/>
              </a:rPr>
              <a:t> </a:t>
            </a:r>
            <a:r>
              <a:rPr dirty="0" baseline="1736" sz="2400" spc="-15">
                <a:latin typeface="Times New Roman"/>
                <a:cs typeface="Times New Roman"/>
              </a:rPr>
              <a:t>mechanisms</a:t>
            </a:r>
            <a:r>
              <a:rPr dirty="0" baseline="1736" sz="2400" spc="-82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prevent</a:t>
            </a:r>
            <a:r>
              <a:rPr dirty="0" baseline="1736" sz="2400" spc="-75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tampering</a:t>
            </a:r>
            <a:r>
              <a:rPr dirty="0" baseline="1736" sz="2400" spc="-82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and</a:t>
            </a:r>
            <a:r>
              <a:rPr dirty="0" baseline="1736" sz="2400" spc="-75">
                <a:latin typeface="Times New Roman"/>
                <a:cs typeface="Times New Roman"/>
              </a:rPr>
              <a:t> </a:t>
            </a:r>
            <a:r>
              <a:rPr dirty="0" baseline="1736" sz="2400" spc="-15">
                <a:latin typeface="Times New Roman"/>
                <a:cs typeface="Times New Roman"/>
              </a:rPr>
              <a:t>duplication.</a:t>
            </a:r>
            <a:endParaRPr baseline="1736" sz="24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baseline="1736" sz="2400" spc="-15" b="1">
                <a:latin typeface="Times New Roman"/>
                <a:cs typeface="Times New Roman"/>
              </a:rPr>
              <a:t>Immutability:</a:t>
            </a:r>
            <a:r>
              <a:rPr dirty="0" baseline="1736" sz="2400" spc="-52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Once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recorded,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votes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cannot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altered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deleted.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baseline="1736" sz="2400" spc="-15" b="1">
                <a:latin typeface="Times New Roman"/>
                <a:cs typeface="Times New Roman"/>
              </a:rPr>
              <a:t>Decentralization:</a:t>
            </a:r>
            <a:r>
              <a:rPr dirty="0" baseline="1736" sz="2400" spc="-37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Removes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single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points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failure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centralized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control.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imes New Roman"/>
                <a:cs typeface="Times New Roman"/>
              </a:rPr>
              <a:t>Auditability: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Enables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monitoring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verifiable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election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results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749" y="1249175"/>
            <a:ext cx="7381874" cy="3467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76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Stakeholders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Their</a:t>
            </a:r>
            <a:r>
              <a:rPr dirty="0" spc="-60"/>
              <a:t> </a:t>
            </a:r>
            <a:r>
              <a:rPr dirty="0" spc="-10"/>
              <a:t>Roles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56227" y="2536504"/>
            <a:ext cx="673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Voters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6227" y="3253279"/>
            <a:ext cx="1130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Candidates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56227" y="1239751"/>
            <a:ext cx="2089785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02005">
              <a:lnSpc>
                <a:spcPct val="1562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Stakeholder </a:t>
            </a:r>
            <a:r>
              <a:rPr dirty="0" sz="1800" b="1">
                <a:latin typeface="Times New Roman"/>
                <a:cs typeface="Times New Roman"/>
              </a:rPr>
              <a:t>Election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Commission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6227" y="3970054"/>
            <a:ext cx="2070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Auditors / </a:t>
            </a:r>
            <a:r>
              <a:rPr dirty="0" sz="1800" spc="-10" b="1">
                <a:latin typeface="Times New Roman"/>
                <a:cs typeface="Times New Roman"/>
              </a:rPr>
              <a:t>Observers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21410">
              <a:lnSpc>
                <a:spcPct val="100000"/>
              </a:lnSpc>
              <a:spcBef>
                <a:spcPts val="100"/>
              </a:spcBef>
            </a:pPr>
            <a:r>
              <a:rPr dirty="0"/>
              <a:t>Role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10"/>
              <a:t>Responsibility</a:t>
            </a:r>
          </a:p>
          <a:p>
            <a:pPr marL="12700" marR="5080">
              <a:lnSpc>
                <a:spcPct val="114599"/>
              </a:lnSpc>
              <a:spcBef>
                <a:spcPts val="1140"/>
              </a:spcBef>
            </a:pPr>
            <a:r>
              <a:rPr dirty="0" b="0">
                <a:latin typeface="Times New Roman"/>
                <a:cs typeface="Times New Roman"/>
              </a:rPr>
              <a:t>Deploys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smart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contract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initializes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the </a:t>
            </a:r>
            <a:r>
              <a:rPr dirty="0" b="0">
                <a:latin typeface="Times New Roman"/>
                <a:cs typeface="Times New Roman"/>
              </a:rPr>
              <a:t>voting </a:t>
            </a:r>
            <a:r>
              <a:rPr dirty="0" spc="-10" b="0">
                <a:latin typeface="Times New Roman"/>
                <a:cs typeface="Times New Roman"/>
              </a:rPr>
              <a:t>period.</a:t>
            </a:r>
          </a:p>
          <a:p>
            <a:pPr marL="12700" marR="36195">
              <a:lnSpc>
                <a:spcPct val="114599"/>
              </a:lnSpc>
              <a:spcBef>
                <a:spcPts val="675"/>
              </a:spcBef>
            </a:pPr>
            <a:r>
              <a:rPr dirty="0" b="0">
                <a:latin typeface="Times New Roman"/>
                <a:cs typeface="Times New Roman"/>
              </a:rPr>
              <a:t>Authenticate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using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MetaMask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cast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votes </a:t>
            </a:r>
            <a:r>
              <a:rPr dirty="0" b="0">
                <a:latin typeface="Times New Roman"/>
                <a:cs typeface="Times New Roman"/>
              </a:rPr>
              <a:t>securely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on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blockchain.</a:t>
            </a:r>
          </a:p>
          <a:p>
            <a:pPr marL="12700" marR="156845">
              <a:lnSpc>
                <a:spcPct val="125000"/>
              </a:lnSpc>
              <a:spcBef>
                <a:spcPts val="150"/>
              </a:spcBef>
            </a:pPr>
            <a:r>
              <a:rPr dirty="0" b="0">
                <a:latin typeface="Times New Roman"/>
                <a:cs typeface="Times New Roman"/>
              </a:rPr>
              <a:t>Participate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election;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their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vote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counts </a:t>
            </a:r>
            <a:r>
              <a:rPr dirty="0" b="0">
                <a:latin typeface="Times New Roman"/>
                <a:cs typeface="Times New Roman"/>
              </a:rPr>
              <a:t>are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updated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via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smart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contract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logic.</a:t>
            </a:r>
          </a:p>
          <a:p>
            <a:pPr marL="12700" marR="315595">
              <a:lnSpc>
                <a:spcPct val="125000"/>
              </a:lnSpc>
            </a:pPr>
            <a:r>
              <a:rPr dirty="0" b="0">
                <a:latin typeface="Times New Roman"/>
                <a:cs typeface="Times New Roman"/>
              </a:rPr>
              <a:t>Verify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transactions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on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blockchain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and </a:t>
            </a:r>
            <a:r>
              <a:rPr dirty="0" b="0">
                <a:latin typeface="Times New Roman"/>
                <a:cs typeface="Times New Roman"/>
              </a:rPr>
              <a:t>validate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election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4347" y="98764"/>
            <a:ext cx="3590924" cy="4695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 </a:t>
            </a:r>
            <a:r>
              <a:rPr dirty="0" spc="-10"/>
              <a:t>Diagram: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96" y="1191777"/>
            <a:ext cx="2638424" cy="1552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2320" y="1289284"/>
            <a:ext cx="2638424" cy="13525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3675" y="3485120"/>
            <a:ext cx="3057524" cy="11620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2826" y="1159316"/>
            <a:ext cx="2114549" cy="16192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33202" y="3485120"/>
            <a:ext cx="2733674" cy="11620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76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Experiment </a:t>
            </a:r>
            <a:r>
              <a:rPr dirty="0" spc="-50"/>
              <a:t>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14013" y="2849206"/>
            <a:ext cx="15093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Adding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Candidate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15246" y="4686950"/>
            <a:ext cx="34899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Check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Votes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candidates(id)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function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55336" y="2849206"/>
            <a:ext cx="15093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Adding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Candidate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13835" y="2849206"/>
            <a:ext cx="832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Cast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Vote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36123" y="4650184"/>
            <a:ext cx="28517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Declare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Winner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getWinner()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602" y="1161373"/>
            <a:ext cx="1924049" cy="28193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0249" y="1158563"/>
            <a:ext cx="1924049" cy="28289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0" y="1223686"/>
            <a:ext cx="1752599" cy="26955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1898" y="1088821"/>
            <a:ext cx="1866899" cy="29622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76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Experiment </a:t>
            </a:r>
            <a:r>
              <a:rPr dirty="0" spc="-50"/>
              <a:t>7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59473" y="4058122"/>
            <a:ext cx="1182370" cy="74549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5"/>
              </a:spcBef>
            </a:pPr>
            <a:r>
              <a:rPr dirty="0" sz="1600">
                <a:latin typeface="Times New Roman"/>
                <a:cs typeface="Times New Roman"/>
              </a:rPr>
              <a:t>Deploying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contract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with </a:t>
            </a:r>
            <a:r>
              <a:rPr dirty="0" sz="1600" spc="-10">
                <a:latin typeface="Times New Roman"/>
                <a:cs typeface="Times New Roman"/>
              </a:rPr>
              <a:t>metamask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51038" y="4130674"/>
            <a:ext cx="803910" cy="5073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5"/>
              </a:spcBef>
            </a:pPr>
            <a:r>
              <a:rPr dirty="0" sz="1600">
                <a:latin typeface="Times New Roman"/>
                <a:cs typeface="Times New Roman"/>
              </a:rPr>
              <a:t>Adding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a </a:t>
            </a:r>
            <a:r>
              <a:rPr dirty="0" sz="1600" spc="-10">
                <a:latin typeface="Times New Roman"/>
                <a:cs typeface="Times New Roman"/>
              </a:rPr>
              <a:t>candidate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71666" y="4160027"/>
            <a:ext cx="1323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Set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dates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60713" y="4245152"/>
            <a:ext cx="4203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latin typeface="Times New Roman"/>
                <a:cs typeface="Times New Roman"/>
              </a:rPr>
              <a:t>Vote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6327" y="445027"/>
            <a:ext cx="3914774" cy="19335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329" y="1647625"/>
            <a:ext cx="3819524" cy="19335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3704" y="2571750"/>
            <a:ext cx="3876674" cy="23431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329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Experiment </a:t>
            </a:r>
            <a:r>
              <a:rPr dirty="0" spc="-5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71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0620" y="1058249"/>
            <a:ext cx="7879715" cy="318897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63855" marR="512445" indent="-351790">
              <a:lnSpc>
                <a:spcPts val="1870"/>
              </a:lnSpc>
              <a:spcBef>
                <a:spcPts val="200"/>
              </a:spcBef>
              <a:buFont typeface="Microsoft Sans Serif"/>
              <a:buChar char="●"/>
              <a:tabLst>
                <a:tab pos="363855" algn="l"/>
              </a:tabLst>
            </a:pPr>
            <a:r>
              <a:rPr dirty="0" sz="1600" spc="-10">
                <a:latin typeface="Times New Roman"/>
                <a:cs typeface="Times New Roman"/>
              </a:rPr>
              <a:t>Successfullyimplemented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Decentralized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Voting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Truffle,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Ganache,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 spc="-10">
                <a:latin typeface="Times New Roman"/>
                <a:cs typeface="Times New Roman"/>
              </a:rPr>
              <a:t>MetaMask.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Font typeface="Microsoft Sans Serif"/>
              <a:buChar char="●"/>
              <a:tabLst>
                <a:tab pos="363855" algn="l"/>
              </a:tabLst>
            </a:pPr>
            <a:r>
              <a:rPr dirty="0" baseline="1736" sz="2400">
                <a:latin typeface="Times New Roman"/>
                <a:cs typeface="Times New Roman"/>
              </a:rPr>
              <a:t>Ensured</a:t>
            </a:r>
            <a:r>
              <a:rPr dirty="0" baseline="1736" sz="2400" spc="-52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security,</a:t>
            </a:r>
            <a:r>
              <a:rPr dirty="0" baseline="1736" sz="2400" spc="-44">
                <a:latin typeface="Times New Roman"/>
                <a:cs typeface="Times New Roman"/>
              </a:rPr>
              <a:t> </a:t>
            </a:r>
            <a:r>
              <a:rPr dirty="0" baseline="1736" sz="2400" spc="-15">
                <a:latin typeface="Times New Roman"/>
                <a:cs typeface="Times New Roman"/>
              </a:rPr>
              <a:t>transparency,</a:t>
            </a:r>
            <a:r>
              <a:rPr dirty="0" baseline="1736" sz="2400" spc="-52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and</a:t>
            </a:r>
            <a:r>
              <a:rPr dirty="0" baseline="1736" sz="2400" spc="-44">
                <a:latin typeface="Times New Roman"/>
                <a:cs typeface="Times New Roman"/>
              </a:rPr>
              <a:t> </a:t>
            </a:r>
            <a:r>
              <a:rPr dirty="0" baseline="1736" sz="2400" spc="-15">
                <a:latin typeface="Times New Roman"/>
                <a:cs typeface="Times New Roman"/>
              </a:rPr>
              <a:t>immutability</a:t>
            </a:r>
            <a:r>
              <a:rPr dirty="0" baseline="1736" sz="2400" spc="-52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of</a:t>
            </a:r>
            <a:r>
              <a:rPr dirty="0" baseline="1736" sz="2400" spc="-44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votes</a:t>
            </a:r>
            <a:r>
              <a:rPr dirty="0" baseline="1736" sz="2400" spc="-52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through</a:t>
            </a:r>
            <a:r>
              <a:rPr dirty="0" baseline="1736" sz="2400" spc="-44">
                <a:latin typeface="Times New Roman"/>
                <a:cs typeface="Times New Roman"/>
              </a:rPr>
              <a:t> </a:t>
            </a:r>
            <a:r>
              <a:rPr dirty="0" baseline="1736" sz="2400">
                <a:latin typeface="Times New Roman"/>
                <a:cs typeface="Times New Roman"/>
              </a:rPr>
              <a:t>blockchain</a:t>
            </a:r>
            <a:r>
              <a:rPr dirty="0" baseline="1736" sz="2400" spc="-52">
                <a:latin typeface="Times New Roman"/>
                <a:cs typeface="Times New Roman"/>
              </a:rPr>
              <a:t> </a:t>
            </a:r>
            <a:r>
              <a:rPr dirty="0" baseline="1736" sz="2400" spc="-15">
                <a:latin typeface="Times New Roman"/>
                <a:cs typeface="Times New Roman"/>
              </a:rPr>
              <a:t>technology.</a:t>
            </a:r>
            <a:endParaRPr baseline="1736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Microsoft Sans Serif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Microsoft Sans Serif"/>
              <a:buChar char="●"/>
              <a:tabLst>
                <a:tab pos="363855" algn="l"/>
              </a:tabLst>
            </a:pPr>
            <a:r>
              <a:rPr dirty="0" sz="1600" spc="-10">
                <a:latin typeface="Times New Roman"/>
                <a:cs typeface="Times New Roman"/>
              </a:rPr>
              <a:t>Demonstrated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wallet-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smart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contract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vote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recording.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Microsoft Sans Serif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Microsoft Sans Serif"/>
              <a:buChar char="●"/>
              <a:tabLst>
                <a:tab pos="363855" algn="l"/>
              </a:tabLst>
            </a:pPr>
            <a:r>
              <a:rPr dirty="0" sz="1600">
                <a:latin typeface="Times New Roman"/>
                <a:cs typeface="Times New Roman"/>
              </a:rPr>
              <a:t>Eliminated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intermediaries,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trustless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tamper-</a:t>
            </a:r>
            <a:r>
              <a:rPr dirty="0" sz="1600">
                <a:latin typeface="Times New Roman"/>
                <a:cs typeface="Times New Roman"/>
              </a:rPr>
              <a:t>proof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process.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Microsoft Sans Serif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Microsoft Sans Serif"/>
              <a:buChar char="●"/>
              <a:tabLst>
                <a:tab pos="363855" algn="l"/>
              </a:tabLst>
            </a:pPr>
            <a:r>
              <a:rPr dirty="0" sz="1600">
                <a:latin typeface="Times New Roman"/>
                <a:cs typeface="Times New Roman"/>
              </a:rPr>
              <a:t>Showcased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how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local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blockchain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networks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simulate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world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decentralized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Microsoft Sans Serif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63855" marR="327025" indent="-351790">
              <a:lnSpc>
                <a:spcPts val="1880"/>
              </a:lnSpc>
              <a:buFont typeface="Microsoft Sans Serif"/>
              <a:buChar char="●"/>
              <a:tabLst>
                <a:tab pos="363855" algn="l"/>
              </a:tabLst>
            </a:pPr>
            <a:r>
              <a:rPr dirty="0" sz="1600">
                <a:latin typeface="Times New Roman"/>
                <a:cs typeface="Times New Roman"/>
              </a:rPr>
              <a:t>Proved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potential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blockchain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future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large-</a:t>
            </a:r>
            <a:r>
              <a:rPr dirty="0" sz="1600">
                <a:latin typeface="Times New Roman"/>
                <a:cs typeface="Times New Roman"/>
              </a:rPr>
              <a:t>scale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e-</a:t>
            </a:r>
            <a:r>
              <a:rPr dirty="0" sz="1600">
                <a:latin typeface="Times New Roman"/>
                <a:cs typeface="Times New Roman"/>
              </a:rPr>
              <a:t>governance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digital elections.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Wicked Programer</dc:creator>
  <cp:keywords>DAG17F4y3-M,BAGrFjraCFQ,0</cp:keywords>
  <dc:title>BC Case Study.pdf</dc:title>
  <dcterms:created xsi:type="dcterms:W3CDTF">2025-11-27T17:55:34Z</dcterms:created>
  <dcterms:modified xsi:type="dcterms:W3CDTF">2025-11-27T17:55:34Z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2025-11-27T00:00:00Z</vt:filetime>
  </property>
  <property fmtid="{D5CDD505-2E9C-101B-9397-08002B2CF9AE}" pid="5" name="Producer">
    <vt:lpwstr>Canva</vt:lpwstr>
  </property>
</Properties>
</file>